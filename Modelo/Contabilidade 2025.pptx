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69" r:id="rId3"/>
    <p:sldId id="280" r:id="rId4"/>
    <p:sldId id="265" r:id="rId5"/>
    <p:sldId id="266" r:id="rId6"/>
    <p:sldId id="260" r:id="rId7"/>
    <p:sldId id="281" r:id="rId8"/>
    <p:sldId id="282" r:id="rId9"/>
    <p:sldId id="270" r:id="rId10"/>
    <p:sldId id="268" r:id="rId11"/>
    <p:sldId id="283" r:id="rId12"/>
    <p:sldId id="27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Santana" initials="LS" lastIdx="1" clrIdx="0">
    <p:extLst>
      <p:ext uri="{19B8F6BF-5375-455C-9EA6-DF929625EA0E}">
        <p15:presenceInfo xmlns:p15="http://schemas.microsoft.com/office/powerpoint/2012/main" userId="5acc836187b40f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81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Projudi TJGO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Planilha1!$A$2:$A$8</c:f>
              <c:strCache>
                <c:ptCount val="7"/>
                <c:pt idx="0">
                  <c:v>Anterior a 2020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Planilha1!$B$2:$B$8</c:f>
              <c:numCache>
                <c:formatCode>General</c:formatCode>
                <c:ptCount val="7"/>
                <c:pt idx="0">
                  <c:v>35</c:v>
                </c:pt>
                <c:pt idx="1">
                  <c:v>28</c:v>
                </c:pt>
                <c:pt idx="2">
                  <c:v>58</c:v>
                </c:pt>
                <c:pt idx="3">
                  <c:v>82</c:v>
                </c:pt>
                <c:pt idx="4">
                  <c:v>127</c:v>
                </c:pt>
                <c:pt idx="5">
                  <c:v>120</c:v>
                </c:pt>
                <c:pt idx="6">
                  <c:v>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DC-473B-8955-D281C6D83F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985615"/>
        <c:axId val="1079991855"/>
      </c:lineChart>
      <c:catAx>
        <c:axId val="107998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79991855"/>
        <c:crosses val="autoZero"/>
        <c:auto val="1"/>
        <c:lblAlgn val="ctr"/>
        <c:lblOffset val="100"/>
        <c:noMultiLvlLbl val="0"/>
      </c:catAx>
      <c:valAx>
        <c:axId val="107999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7998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Projudi TJGO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Anterior a 2020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34</c:v>
                </c:pt>
                <c:pt idx="1">
                  <c:v>27</c:v>
                </c:pt>
                <c:pt idx="2">
                  <c:v>58</c:v>
                </c:pt>
                <c:pt idx="3">
                  <c:v>82</c:v>
                </c:pt>
                <c:pt idx="4">
                  <c:v>126</c:v>
                </c:pt>
                <c:pt idx="5">
                  <c:v>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DC-473B-8955-D281C6D83F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985615"/>
        <c:axId val="1079991855"/>
      </c:lineChart>
      <c:catAx>
        <c:axId val="107998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79991855"/>
        <c:crosses val="autoZero"/>
        <c:auto val="1"/>
        <c:lblAlgn val="ctr"/>
        <c:lblOffset val="100"/>
        <c:noMultiLvlLbl val="0"/>
      </c:catAx>
      <c:valAx>
        <c:axId val="107999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7998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94978802036659E-2"/>
          <c:y val="7.2565554217039569E-3"/>
          <c:w val="0.44643113733305839"/>
          <c:h val="0.94678526024083765"/>
        </c:manualLayout>
      </c:layout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6B-4E8C-87B9-5E67F18960E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6B-4E8C-87B9-5E67F18960E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6B-4E8C-87B9-5E67F18960E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6B-4E8C-87B9-5E67F18960E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6B-4E8C-87B9-5E67F18960E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56B-4E8C-87B9-5E67F18960E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146-4E7F-AC54-4B7DBAE7DE2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2146-4E7F-AC54-4B7DBAE7DE2E}"/>
              </c:ext>
            </c:extLst>
          </c:dPt>
          <c:cat>
            <c:strRef>
              <c:f>Planilha1!$A$2:$A$9</c:f>
              <c:strCache>
                <c:ptCount val="8"/>
                <c:pt idx="0">
                  <c:v>Gustavo R$ 202.046,24</c:v>
                </c:pt>
                <c:pt idx="1">
                  <c:v>Lucas R$ 145.261,35</c:v>
                </c:pt>
                <c:pt idx="2">
                  <c:v>Talyta R$ 13.062,17</c:v>
                </c:pt>
                <c:pt idx="3">
                  <c:v>Luciano R$ 7.222,00</c:v>
                </c:pt>
                <c:pt idx="4">
                  <c:v>Rejane R$ 6.000,00</c:v>
                </c:pt>
                <c:pt idx="5">
                  <c:v>Paulo Henrique R$ 2.544,00</c:v>
                </c:pt>
                <c:pt idx="6">
                  <c:v>Jean Carlos R$ 800,00</c:v>
                </c:pt>
                <c:pt idx="7">
                  <c:v>João R$ 515,46</c:v>
                </c:pt>
              </c:strCache>
            </c:strRef>
          </c:cat>
          <c:val>
            <c:numRef>
              <c:f>Planilha1!$B$2:$B$9</c:f>
              <c:numCache>
                <c:formatCode>_("R$"* #,##0.00_);_("R$"* \(#,##0.00\);_("R$"* "-"??_);_(@_)</c:formatCode>
                <c:ptCount val="8"/>
                <c:pt idx="0">
                  <c:v>202046.23850000001</c:v>
                </c:pt>
                <c:pt idx="1">
                  <c:v>145261.351</c:v>
                </c:pt>
                <c:pt idx="2">
                  <c:v>13062.17</c:v>
                </c:pt>
                <c:pt idx="3">
                  <c:v>7222</c:v>
                </c:pt>
                <c:pt idx="4">
                  <c:v>6000</c:v>
                </c:pt>
                <c:pt idx="5">
                  <c:v>2544</c:v>
                </c:pt>
                <c:pt idx="6">
                  <c:v>800</c:v>
                </c:pt>
                <c:pt idx="7">
                  <c:v>515.46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00-4999-9862-F2680393F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024278690891951"/>
          <c:y val="2.5915517466394068E-2"/>
          <c:w val="0.41291394582431384"/>
          <c:h val="0.935540709345033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59956064721369"/>
          <c:y val="3.5058304664574512E-2"/>
          <c:w val="0.67436290109104724"/>
          <c:h val="0.9103086319575685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Escritório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Planilha1!$B$2:$B$7</c:f>
              <c:numCache>
                <c:formatCode>#,##0.00</c:formatCode>
                <c:ptCount val="6"/>
                <c:pt idx="0">
                  <c:v>74176</c:v>
                </c:pt>
                <c:pt idx="1">
                  <c:v>189163.8</c:v>
                </c:pt>
                <c:pt idx="2">
                  <c:v>160406.53</c:v>
                </c:pt>
                <c:pt idx="3">
                  <c:v>229623.25</c:v>
                </c:pt>
                <c:pt idx="4">
                  <c:v>320371.46999999997</c:v>
                </c:pt>
                <c:pt idx="5">
                  <c:v>377451.87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98-47C5-899B-C0DA15EB307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Gustavo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Planilha1!$C$2:$C$7</c:f>
              <c:numCache>
                <c:formatCode>#,##0.00</c:formatCode>
                <c:ptCount val="6"/>
                <c:pt idx="0">
                  <c:v>40923</c:v>
                </c:pt>
                <c:pt idx="1">
                  <c:v>97619.78</c:v>
                </c:pt>
                <c:pt idx="2">
                  <c:v>87620.82</c:v>
                </c:pt>
                <c:pt idx="3">
                  <c:v>125353.51</c:v>
                </c:pt>
                <c:pt idx="4">
                  <c:v>173843.26000000004</c:v>
                </c:pt>
                <c:pt idx="5">
                  <c:v>202046.24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98-47C5-899B-C0DA15EB3072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Lucas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Planilha1!$D$2:$D$7</c:f>
              <c:numCache>
                <c:formatCode>#,##0.00</c:formatCode>
                <c:ptCount val="6"/>
                <c:pt idx="0">
                  <c:v>23253</c:v>
                </c:pt>
                <c:pt idx="1">
                  <c:v>47085.4</c:v>
                </c:pt>
                <c:pt idx="2">
                  <c:v>54022.37</c:v>
                </c:pt>
                <c:pt idx="3">
                  <c:v>73256.22</c:v>
                </c:pt>
                <c:pt idx="4" formatCode="General">
                  <c:v>102919.11999999998</c:v>
                </c:pt>
                <c:pt idx="5">
                  <c:v>145261.35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98-47C5-899B-C0DA15EB3072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Talyta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Planilha1!$E$2:$E$7</c:f>
              <c:numCache>
                <c:formatCode>#,##0.00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4924</c:v>
                </c:pt>
                <c:pt idx="3">
                  <c:v>10326.33</c:v>
                </c:pt>
                <c:pt idx="4" formatCode="General">
                  <c:v>16881.62</c:v>
                </c:pt>
                <c:pt idx="5">
                  <c:v>13062.17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498-47C5-899B-C0DA15EB307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39153215"/>
        <c:axId val="1739142399"/>
      </c:lineChart>
      <c:catAx>
        <c:axId val="173915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39142399"/>
        <c:crosses val="autoZero"/>
        <c:auto val="1"/>
        <c:lblAlgn val="ctr"/>
        <c:lblOffset val="100"/>
        <c:noMultiLvlLbl val="0"/>
      </c:catAx>
      <c:valAx>
        <c:axId val="1739142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39153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4645030306095648"/>
          <c:y val="3.9637386343455684E-2"/>
          <c:w val="0.15252066451109531"/>
          <c:h val="0.886205732892674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647651384177773E-2"/>
          <c:y val="0"/>
          <c:w val="0.38147410253153841"/>
          <c:h val="0.95742127787298303"/>
        </c:manualLayout>
      </c:layout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</c:spPr>
          <c:dPt>
            <c:idx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F83-438E-B6CD-011F1FD38661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83-438E-B6CD-011F1FD38661}"/>
              </c:ext>
            </c:extLst>
          </c:dPt>
          <c:dPt>
            <c:idx val="2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CB-45EF-8D04-613A023F41E3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F1CB-45EF-8D04-613A023F41E3}"/>
              </c:ext>
            </c:extLst>
          </c:dPt>
          <c:dPt>
            <c:idx val="4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1CB-45EF-8D04-613A023F41E3}"/>
              </c:ext>
            </c:extLst>
          </c:dPt>
          <c:dPt>
            <c:idx val="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57D-4CBC-BF38-15D8EB683574}"/>
              </c:ext>
            </c:extLst>
          </c:dPt>
          <c:dPt>
            <c:idx val="6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57D-4CBC-BF38-15D8EB683574}"/>
              </c:ext>
            </c:extLst>
          </c:dPt>
          <c:dLbls>
            <c:dLbl>
              <c:idx val="0"/>
              <c:layout>
                <c:manualLayout>
                  <c:x val="-0.12473171196342397"/>
                  <c:y val="-0.1441807227795576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83-438E-B6CD-011F1FD38661}"/>
                </c:ext>
              </c:extLst>
            </c:dLbl>
            <c:dLbl>
              <c:idx val="1"/>
              <c:layout>
                <c:manualLayout>
                  <c:x val="3.0241935483870969E-2"/>
                  <c:y val="-1.405574397384889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83-438E-B6CD-011F1FD38661}"/>
                </c:ext>
              </c:extLst>
            </c:dLbl>
            <c:dLbl>
              <c:idx val="2"/>
              <c:layout>
                <c:manualLayout>
                  <c:x val="1.7921146953405017E-2"/>
                  <c:y val="8.9956761432632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CB-45EF-8D04-613A023F41E3}"/>
                </c:ext>
              </c:extLst>
            </c:dLbl>
            <c:dLbl>
              <c:idx val="4"/>
              <c:layout>
                <c:manualLayout>
                  <c:x val="1.6134828604693827E-2"/>
                  <c:y val="5.060067830585564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CB-45EF-8D04-613A023F41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Planilha1!$A$2:$A$8</c:f>
              <c:strCache>
                <c:ptCount val="7"/>
                <c:pt idx="0">
                  <c:v>Indicações Gustavo - 56%</c:v>
                </c:pt>
                <c:pt idx="1">
                  <c:v>Indicações Lucas - 27%</c:v>
                </c:pt>
                <c:pt idx="2">
                  <c:v>Indicações Talyta - 9%</c:v>
                </c:pt>
                <c:pt idx="3">
                  <c:v>Indicações Luciano - 4%</c:v>
                </c:pt>
                <c:pt idx="4">
                  <c:v>Indicações João - 2%</c:v>
                </c:pt>
                <c:pt idx="5">
                  <c:v>Indicações Paulo Henrique - 2%</c:v>
                </c:pt>
                <c:pt idx="6">
                  <c:v>Indicações Jean Carlos - 1%</c:v>
                </c:pt>
              </c:strCache>
            </c:strRef>
          </c:cat>
          <c:val>
            <c:numRef>
              <c:f>Planilha1!$B$2:$B$8</c:f>
              <c:numCache>
                <c:formatCode>_("R$"* #,##0.00_);_("R$"* \(#,##0.00\);_("R$"* "-"??_);_(@_)</c:formatCode>
                <c:ptCount val="7"/>
                <c:pt idx="0">
                  <c:v>210711</c:v>
                </c:pt>
                <c:pt idx="1">
                  <c:v>102015</c:v>
                </c:pt>
                <c:pt idx="2">
                  <c:v>33042</c:v>
                </c:pt>
                <c:pt idx="3">
                  <c:v>14400</c:v>
                </c:pt>
                <c:pt idx="4">
                  <c:v>7973</c:v>
                </c:pt>
                <c:pt idx="5">
                  <c:v>7041</c:v>
                </c:pt>
                <c:pt idx="6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3-438E-B6CD-011F1FD386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4774989063867027"/>
          <c:y val="2.7432385230976828E-2"/>
          <c:w val="0.43482708562639349"/>
          <c:h val="0.87637674352096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33444508501071"/>
          <c:y val="0.19733634381900803"/>
          <c:w val="0.88390739352025438"/>
          <c:h val="0.717024292751225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Planilha1!$A$2:$A$10</c:f>
              <c:strCache>
                <c:ptCount val="9"/>
                <c:pt idx="0">
                  <c:v>Criminal</c:v>
                </c:pt>
                <c:pt idx="1">
                  <c:v>Comissões</c:v>
                </c:pt>
                <c:pt idx="2">
                  <c:v>Contratos</c:v>
                </c:pt>
                <c:pt idx="3">
                  <c:v>Inventário</c:v>
                </c:pt>
                <c:pt idx="4">
                  <c:v>Trabalhista</c:v>
                </c:pt>
                <c:pt idx="5">
                  <c:v>Consumidor</c:v>
                </c:pt>
                <c:pt idx="6">
                  <c:v>Previdenciário</c:v>
                </c:pt>
                <c:pt idx="7">
                  <c:v>Famílias</c:v>
                </c:pt>
                <c:pt idx="8">
                  <c:v>Cível</c:v>
                </c:pt>
              </c:strCache>
            </c:strRef>
          </c:cat>
          <c:val>
            <c:numRef>
              <c:f>Planilha1!$B$2:$B$10</c:f>
              <c:numCache>
                <c:formatCode>#,##0.00</c:formatCode>
                <c:ptCount val="9"/>
                <c:pt idx="0">
                  <c:v>1575</c:v>
                </c:pt>
                <c:pt idx="1">
                  <c:v>1274</c:v>
                </c:pt>
                <c:pt idx="2">
                  <c:v>16950</c:v>
                </c:pt>
                <c:pt idx="3">
                  <c:v>29250</c:v>
                </c:pt>
                <c:pt idx="4">
                  <c:v>12300</c:v>
                </c:pt>
                <c:pt idx="5">
                  <c:v>39957.449999999997</c:v>
                </c:pt>
                <c:pt idx="6">
                  <c:v>31405.439999999999</c:v>
                </c:pt>
                <c:pt idx="7">
                  <c:v>103062.79</c:v>
                </c:pt>
                <c:pt idx="8">
                  <c:v>129116.63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F6-43F0-A7D2-B0352D4159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81206047"/>
        <c:axId val="1081206463"/>
      </c:barChart>
      <c:catAx>
        <c:axId val="108120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81206463"/>
        <c:crosses val="autoZero"/>
        <c:auto val="1"/>
        <c:lblAlgn val="ctr"/>
        <c:lblOffset val="100"/>
        <c:noMultiLvlLbl val="0"/>
      </c:catAx>
      <c:valAx>
        <c:axId val="1081206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81206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382484712407028E-2"/>
          <c:y val="0"/>
          <c:w val="0.37488032047899394"/>
          <c:h val="0.95031287103435835"/>
        </c:manualLayout>
      </c:layout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Honorários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C5-40B2-850B-5D7E8AAEE1D9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6C5-40B2-850B-5D7E8AAEE1D9}"/>
              </c:ext>
            </c:extLst>
          </c:dPt>
          <c:dPt>
            <c:idx val="2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6C5-40B2-850B-5D7E8AAEE1D9}"/>
              </c:ext>
            </c:extLst>
          </c:dPt>
          <c:cat>
            <c:strRef>
              <c:f>Planilha1!$A$2:$A$4</c:f>
              <c:strCache>
                <c:ptCount val="3"/>
                <c:pt idx="0">
                  <c:v>Acima de R$ 5.000,00 – R$ 168.568,42 - 16 casos - 45%</c:v>
                </c:pt>
                <c:pt idx="1">
                  <c:v>De 2 a 5 mil reais - R$ 108.455,00 - 40 casos - 29%</c:v>
                </c:pt>
                <c:pt idx="2">
                  <c:v>Abaixo de 2 mil reais - R$ 100.687,00 - 131 casos - 27%</c:v>
                </c:pt>
              </c:strCache>
            </c:strRef>
          </c:cat>
          <c:val>
            <c:numRef>
              <c:f>Planilha1!$B$2:$B$4</c:f>
              <c:numCache>
                <c:formatCode>_("R$"* #,##0.00_);_("R$"* \(#,##0.00\);_("R$"* "-"??_);_(@_)</c:formatCode>
                <c:ptCount val="3"/>
                <c:pt idx="0">
                  <c:v>168568.42</c:v>
                </c:pt>
                <c:pt idx="1">
                  <c:v>108455</c:v>
                </c:pt>
                <c:pt idx="2">
                  <c:v>100687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F-4B60-9FE3-302D0DAE7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1282341373231242"/>
          <c:y val="7.9113924050632917E-3"/>
          <c:w val="0.38463024154096198"/>
          <c:h val="0.96497960239979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382484712407028E-2"/>
          <c:y val="0"/>
          <c:w val="0.37488032047899394"/>
          <c:h val="0.95031287103435835"/>
        </c:manualLayout>
      </c:layout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Honorários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C5-40B2-850B-5D7E8AAEE1D9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6C5-40B2-850B-5D7E8AAEE1D9}"/>
              </c:ext>
            </c:extLst>
          </c:dPt>
          <c:dPt>
            <c:idx val="2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6C5-40B2-850B-5D7E8AAEE1D9}"/>
              </c:ext>
            </c:extLst>
          </c:dPt>
          <c:cat>
            <c:strRef>
              <c:f>Planilha1!$A$2:$A$4</c:f>
              <c:strCache>
                <c:ptCount val="3"/>
                <c:pt idx="0">
                  <c:v>Acima de R$ 5.000,00 – R$ 152.177,13 - 18 casos - 48%</c:v>
                </c:pt>
                <c:pt idx="1">
                  <c:v>De 2 a 5 mil reais - R$ 91.880,60 - 33 casos - 29%</c:v>
                </c:pt>
                <c:pt idx="2">
                  <c:v>Abaixo de 2 mil reais - R$ 76.313,74 - 88 casos - 24%</c:v>
                </c:pt>
              </c:strCache>
            </c:strRef>
          </c:cat>
          <c:val>
            <c:numRef>
              <c:f>Planilha1!$B$2:$B$4</c:f>
              <c:numCache>
                <c:formatCode>_("R$"* #,##0.00_);_("R$"* \(#,##0.00\);_("R$"* "-"??_);_(@_)</c:formatCode>
                <c:ptCount val="3"/>
                <c:pt idx="0">
                  <c:v>152177.13</c:v>
                </c:pt>
                <c:pt idx="1">
                  <c:v>91880.6</c:v>
                </c:pt>
                <c:pt idx="2">
                  <c:v>76313.740000000005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F-4B60-9FE3-302D0DAE7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1282341373231242"/>
          <c:y val="7.9113924050632917E-3"/>
          <c:w val="0.38463024154096198"/>
          <c:h val="0.96497960239979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59956064721369"/>
          <c:y val="3.5058304664574512E-2"/>
          <c:w val="0.67436290109104724"/>
          <c:h val="0.9103086319575685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Escritório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Planilha1!$A$2:$A$9</c:f>
              <c:numCache>
                <c:formatCode>General</c:formatCode>
                <c:ptCount val="8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</c:numCache>
            </c:numRef>
          </c:cat>
          <c:val>
            <c:numRef>
              <c:f>Planilha1!$B$2:$B$9</c:f>
              <c:numCache>
                <c:formatCode>#,##0.00</c:formatCode>
                <c:ptCount val="8"/>
                <c:pt idx="0">
                  <c:v>74176</c:v>
                </c:pt>
                <c:pt idx="1">
                  <c:v>189163.8</c:v>
                </c:pt>
                <c:pt idx="2">
                  <c:v>160406.53</c:v>
                </c:pt>
                <c:pt idx="3">
                  <c:v>229623.25</c:v>
                </c:pt>
                <c:pt idx="4">
                  <c:v>320371.46999999997</c:v>
                </c:pt>
                <c:pt idx="5">
                  <c:v>381920.34</c:v>
                </c:pt>
                <c:pt idx="6">
                  <c:v>443469.2</c:v>
                </c:pt>
                <c:pt idx="7">
                  <c:v>505018.07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98-47C5-899B-C0DA15EB307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39153215"/>
        <c:axId val="1739142399"/>
      </c:lineChart>
      <c:catAx>
        <c:axId val="173915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39142399"/>
        <c:crosses val="autoZero"/>
        <c:auto val="1"/>
        <c:lblAlgn val="ctr"/>
        <c:lblOffset val="100"/>
        <c:noMultiLvlLbl val="0"/>
      </c:catAx>
      <c:valAx>
        <c:axId val="1739142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39153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22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69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521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01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097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7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70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76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7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57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87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F5A9B2-0CBA-4ABB-BB30-3D70DED49ECC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B787865-5CCC-4FB4-8379-E603AE6CA9C0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85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160837"/>
            <a:ext cx="7772400" cy="8553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Contabilidade 2025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65" y="4542021"/>
            <a:ext cx="4778535" cy="23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1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192D1-BB95-4BDA-891F-ADCEBCCE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19456"/>
            <a:ext cx="10893742" cy="1499616"/>
          </a:xfrm>
        </p:spPr>
        <p:txBody>
          <a:bodyPr/>
          <a:lstStyle/>
          <a:p>
            <a:r>
              <a:rPr lang="pt-BR" dirty="0"/>
              <a:t>Número de processos distribuídos – projudi/</a:t>
            </a:r>
            <a:r>
              <a:rPr lang="pt-BR" dirty="0" err="1"/>
              <a:t>tjgo</a:t>
            </a:r>
            <a:r>
              <a:rPr lang="pt-BR" dirty="0"/>
              <a:t> 2025 – total 627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F6581D04-8CC8-44F7-BDD4-E41220466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127314"/>
              </p:ext>
            </p:extLst>
          </p:nvPr>
        </p:nvGraphicFramePr>
        <p:xfrm>
          <a:off x="1023938" y="1719072"/>
          <a:ext cx="10116502" cy="478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7161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4F20-F31A-AF26-81E8-5BF2AA19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01589-050C-12A8-D3B8-E3D35828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19456"/>
            <a:ext cx="10893742" cy="1499616"/>
          </a:xfrm>
        </p:spPr>
        <p:txBody>
          <a:bodyPr/>
          <a:lstStyle/>
          <a:p>
            <a:r>
              <a:rPr lang="pt-BR" dirty="0"/>
              <a:t>Número de processos distribuídos – projudi/tjgo 2024 – total 441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560D2E54-B9FD-6AFF-9EA1-0DB3780E7C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1719072"/>
          <a:ext cx="10116502" cy="478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874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1391" y="0"/>
            <a:ext cx="9026331" cy="1499616"/>
          </a:xfrm>
        </p:spPr>
        <p:txBody>
          <a:bodyPr>
            <a:normAutofit/>
          </a:bodyPr>
          <a:lstStyle/>
          <a:p>
            <a:r>
              <a:rPr lang="pt-BR" dirty="0"/>
              <a:t>Total recebido por cada pessoa – total R$ 377.451,87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894153"/>
              </p:ext>
            </p:extLst>
          </p:nvPr>
        </p:nvGraphicFramePr>
        <p:xfrm>
          <a:off x="412955" y="1356852"/>
          <a:ext cx="11135032" cy="5250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235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BD899-0FD8-49AC-9ADE-2F1F610F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5943"/>
            <a:ext cx="9720072" cy="887269"/>
          </a:xfrm>
        </p:spPr>
        <p:txBody>
          <a:bodyPr/>
          <a:lstStyle/>
          <a:p>
            <a:r>
              <a:rPr lang="pt-BR" dirty="0"/>
              <a:t>Variação 2020 a 2025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DD83AB47-3A26-4DB8-B68A-D5B207877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47969"/>
              </p:ext>
            </p:extLst>
          </p:nvPr>
        </p:nvGraphicFramePr>
        <p:xfrm>
          <a:off x="342537" y="1083212"/>
          <a:ext cx="11506926" cy="5556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760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260752"/>
            <a:ext cx="9720072" cy="1499616"/>
          </a:xfrm>
        </p:spPr>
        <p:txBody>
          <a:bodyPr>
            <a:normAutofit/>
          </a:bodyPr>
          <a:lstStyle/>
          <a:p>
            <a:r>
              <a:rPr lang="pt-BR" dirty="0"/>
              <a:t>Divisão por indicação – TOTAL RECEBIDO PELO ESCRITÓRIO E PARCEIROS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884840"/>
              </p:ext>
            </p:extLst>
          </p:nvPr>
        </p:nvGraphicFramePr>
        <p:xfrm>
          <a:off x="239150" y="2079522"/>
          <a:ext cx="10986867" cy="4517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363D2197-08BA-B0B4-7515-F8B0A457807B}"/>
              </a:ext>
            </a:extLst>
          </p:cNvPr>
          <p:cNvSpPr txBox="1"/>
          <p:nvPr/>
        </p:nvSpPr>
        <p:spPr>
          <a:xfrm>
            <a:off x="10384100" y="6535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2024</a:t>
            </a:r>
          </a:p>
        </p:txBody>
      </p:sp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9AACCF6-20BB-3678-0450-D00D9E5F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257" y="1064577"/>
            <a:ext cx="2676899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1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68304-8334-9F14-7E8F-FE552C52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Maiores honorários Lucas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1FFC205-D1C3-360D-52DC-EB5CD5EC8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619393"/>
              </p:ext>
            </p:extLst>
          </p:nvPr>
        </p:nvGraphicFramePr>
        <p:xfrm>
          <a:off x="2046682" y="2084832"/>
          <a:ext cx="7674964" cy="3867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7392">
                  <a:extLst>
                    <a:ext uri="{9D8B030D-6E8A-4147-A177-3AD203B41FA5}">
                      <a16:colId xmlns:a16="http://schemas.microsoft.com/office/drawing/2014/main" val="1292811835"/>
                    </a:ext>
                  </a:extLst>
                </a:gridCol>
                <a:gridCol w="2690975">
                  <a:extLst>
                    <a:ext uri="{9D8B030D-6E8A-4147-A177-3AD203B41FA5}">
                      <a16:colId xmlns:a16="http://schemas.microsoft.com/office/drawing/2014/main" val="2201385384"/>
                    </a:ext>
                  </a:extLst>
                </a:gridCol>
                <a:gridCol w="1686597">
                  <a:extLst>
                    <a:ext uri="{9D8B030D-6E8A-4147-A177-3AD203B41FA5}">
                      <a16:colId xmlns:a16="http://schemas.microsoft.com/office/drawing/2014/main" val="234748209"/>
                    </a:ext>
                  </a:extLst>
                </a:gridCol>
              </a:tblGrid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Denise Ladeira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trabalhista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R$ 12.000,00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3899351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Gildásio e Ludimila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ação consumidor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R$ 11.250,00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2189989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Eliene mãe </a:t>
                      </a:r>
                      <a:r>
                        <a:rPr lang="pt-BR" sz="1800" u="none" strike="noStrike" dirty="0" err="1">
                          <a:effectLst/>
                        </a:rPr>
                        <a:t>Haniel</a:t>
                      </a:r>
                      <a:r>
                        <a:rPr lang="pt-BR" sz="1800" u="none" strike="noStrike" dirty="0">
                          <a:effectLst/>
                        </a:rPr>
                        <a:t> (</a:t>
                      </a:r>
                      <a:r>
                        <a:rPr lang="pt-BR" sz="1800" u="none" strike="noStrike" dirty="0" err="1">
                          <a:effectLst/>
                        </a:rPr>
                        <a:t>indic</a:t>
                      </a:r>
                      <a:r>
                        <a:rPr lang="pt-BR" sz="1800" u="none" strike="noStrike" dirty="0">
                          <a:effectLst/>
                        </a:rPr>
                        <a:t> Ramon)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pensão por morte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R$ 6.072,00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2431578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Maria de Fátima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pensão por morte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R$ 5.150,00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0306171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José Carlos tio Wash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Usucapiao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R$ 4.000,00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4972110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Walma Silva Souza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aposentadoria idade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R$ 3.750,00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960127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Rodrigo Tonet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ação </a:t>
                      </a:r>
                      <a:r>
                        <a:rPr lang="pt-BR" sz="1800" u="none" strike="noStrike" dirty="0" err="1">
                          <a:effectLst/>
                        </a:rPr>
                        <a:t>civel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R$ 3.616,33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424305"/>
                  </a:ext>
                </a:extLst>
              </a:tr>
              <a:tr h="4317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Tania e Telma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Usucapiao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R$ 3.500,00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5837452"/>
                  </a:ext>
                </a:extLst>
              </a:tr>
              <a:tr h="4137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Evando de Souza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ação familia TJBA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R$ 3.000,00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731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28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B01B9-0A82-8051-33DD-34CCD6BF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Maiores honorários </a:t>
            </a:r>
            <a:r>
              <a:rPr lang="pt-BR" dirty="0" err="1"/>
              <a:t>gustavo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5F887F6-9741-812E-712B-54C7FD724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39132"/>
              </p:ext>
            </p:extLst>
          </p:nvPr>
        </p:nvGraphicFramePr>
        <p:xfrm>
          <a:off x="1447800" y="2084832"/>
          <a:ext cx="8359715" cy="4156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456">
                  <a:extLst>
                    <a:ext uri="{9D8B030D-6E8A-4147-A177-3AD203B41FA5}">
                      <a16:colId xmlns:a16="http://schemas.microsoft.com/office/drawing/2014/main" val="9056002"/>
                    </a:ext>
                  </a:extLst>
                </a:gridCol>
                <a:gridCol w="2902394">
                  <a:extLst>
                    <a:ext uri="{9D8B030D-6E8A-4147-A177-3AD203B41FA5}">
                      <a16:colId xmlns:a16="http://schemas.microsoft.com/office/drawing/2014/main" val="4043890751"/>
                    </a:ext>
                  </a:extLst>
                </a:gridCol>
                <a:gridCol w="1900865">
                  <a:extLst>
                    <a:ext uri="{9D8B030D-6E8A-4147-A177-3AD203B41FA5}">
                      <a16:colId xmlns:a16="http://schemas.microsoft.com/office/drawing/2014/main" val="21900507"/>
                    </a:ext>
                  </a:extLst>
                </a:gridCol>
              </a:tblGrid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Antonio Marcos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ação cível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R$ 21.291,24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614244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Claudio Claudieres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ação cível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R$ 11.806,53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7047578"/>
                  </a:ext>
                </a:extLst>
              </a:tr>
              <a:tr h="6754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Maximino Moraes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defesa execuções TJMT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R$ 10.000,00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4954010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Leidiane e Vanessa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inventário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R$ 8.277,50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5527300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Renata Alves de Oliveira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defesa civel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R$ 8.000,00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6225512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Kelly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incapacidd temporaria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R$ 7.590,00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4700953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Suely TJMG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ação cível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R$ 7.187,05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0077286"/>
                  </a:ext>
                </a:extLst>
              </a:tr>
              <a:tr h="497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Jordão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cível / médico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R$ 6.500,00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6394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8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28E68-2EC4-4603-9040-E54630B0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13" y="323322"/>
            <a:ext cx="9720072" cy="858129"/>
          </a:xfrm>
        </p:spPr>
        <p:txBody>
          <a:bodyPr/>
          <a:lstStyle/>
          <a:p>
            <a:r>
              <a:rPr lang="pt-BR" dirty="0"/>
              <a:t>Distribuição por área de atuação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E6387F75-EB28-4529-B669-B7B06BF86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894124"/>
              </p:ext>
            </p:extLst>
          </p:nvPr>
        </p:nvGraphicFramePr>
        <p:xfrm>
          <a:off x="478302" y="1181451"/>
          <a:ext cx="11104098" cy="4409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8FB6B65-FB8F-70AB-BF8A-85A0EE23E71A}"/>
              </a:ext>
            </a:extLst>
          </p:cNvPr>
          <p:cNvSpPr txBox="1"/>
          <p:nvPr/>
        </p:nvSpPr>
        <p:spPr>
          <a:xfrm>
            <a:off x="5750392" y="5748709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2024</a:t>
            </a:r>
          </a:p>
          <a:p>
            <a:endParaRPr lang="pt-BR" b="1" dirty="0"/>
          </a:p>
        </p:txBody>
      </p:sp>
      <p:pic>
        <p:nvPicPr>
          <p:cNvPr id="11" name="Imagem 10" descr="Texto&#10;&#10;O conteúdo gerado por IA pode estar incorreto.">
            <a:extLst>
              <a:ext uri="{FF2B5EF4-FFF2-40B4-BE49-F238E27FC236}">
                <a16:creationId xmlns:a16="http://schemas.microsoft.com/office/drawing/2014/main" id="{DA84FD64-153A-62FA-B781-7C3703F7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908" y="6058362"/>
            <a:ext cx="9638675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7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4777582" cy="1499616"/>
          </a:xfrm>
        </p:spPr>
        <p:txBody>
          <a:bodyPr/>
          <a:lstStyle/>
          <a:p>
            <a:r>
              <a:rPr lang="pt-BR" dirty="0"/>
              <a:t>Divisão honorários</a:t>
            </a:r>
          </a:p>
        </p:txBody>
      </p:sp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7DA75417-710C-40D1-B6B6-5D314A47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083784"/>
              </p:ext>
            </p:extLst>
          </p:nvPr>
        </p:nvGraphicFramePr>
        <p:xfrm>
          <a:off x="470969" y="1828275"/>
          <a:ext cx="11148217" cy="481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911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5A01-9D8A-200D-818A-9FFBFA19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6484B-F251-A97B-F73A-69B5761C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6366023" cy="1499616"/>
          </a:xfrm>
        </p:spPr>
        <p:txBody>
          <a:bodyPr>
            <a:normAutofit/>
          </a:bodyPr>
          <a:lstStyle/>
          <a:p>
            <a:r>
              <a:rPr lang="pt-BR" dirty="0"/>
              <a:t>Divisão honorários – 2024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E7392106-911B-39D9-60CE-6B839815AB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0969" y="1828275"/>
          <a:ext cx="11148217" cy="481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71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BD899-0FD8-49AC-9ADE-2F1F610F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5943"/>
            <a:ext cx="9720072" cy="887269"/>
          </a:xfrm>
        </p:spPr>
        <p:txBody>
          <a:bodyPr>
            <a:normAutofit fontScale="90000"/>
          </a:bodyPr>
          <a:lstStyle/>
          <a:p>
            <a:r>
              <a:rPr lang="pt-BR" dirty="0"/>
              <a:t>Modelo de previsão – chat </a:t>
            </a:r>
            <a:r>
              <a:rPr lang="pt-BR" dirty="0" err="1"/>
              <a:t>gpt</a:t>
            </a:r>
            <a:r>
              <a:rPr lang="pt-BR" dirty="0"/>
              <a:t> feito em 2024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DD83AB47-3A26-4DB8-B68A-D5B207877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746460"/>
              </p:ext>
            </p:extLst>
          </p:nvPr>
        </p:nvGraphicFramePr>
        <p:xfrm>
          <a:off x="1678967" y="1083212"/>
          <a:ext cx="9720072" cy="5556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9E1CC0F8-C37D-6E4C-03C6-5636E744EAF0}"/>
              </a:ext>
            </a:extLst>
          </p:cNvPr>
          <p:cNvSpPr txBox="1">
            <a:spLocks/>
          </p:cNvSpPr>
          <p:nvPr/>
        </p:nvSpPr>
        <p:spPr>
          <a:xfrm>
            <a:off x="9443803" y="4809789"/>
            <a:ext cx="2748196" cy="1081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dirty="0"/>
              <a:t>Total arrecadado R$ 377.451,87</a:t>
            </a:r>
          </a:p>
        </p:txBody>
      </p:sp>
    </p:spTree>
    <p:extLst>
      <p:ext uri="{BB962C8B-B14F-4D97-AF65-F5344CB8AC3E}">
        <p14:creationId xmlns:p14="http://schemas.microsoft.com/office/powerpoint/2010/main" val="188644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3377B-E122-49AE-9DEE-9779F1C5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596208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646</TotalTime>
  <Words>222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Palatino Linotype</vt:lpstr>
      <vt:lpstr>Tw Cen MT</vt:lpstr>
      <vt:lpstr>Tw Cen MT Condensed</vt:lpstr>
      <vt:lpstr>Wingdings 3</vt:lpstr>
      <vt:lpstr>Integral</vt:lpstr>
      <vt:lpstr>Contabilidade 2025</vt:lpstr>
      <vt:lpstr>Número de processos distribuídos – projudi/tjgo 2025 – total 627</vt:lpstr>
      <vt:lpstr>Número de processos distribuídos – projudi/tjgo 2024 – total 441</vt:lpstr>
      <vt:lpstr>Total recebido por cada pessoa – total R$ 377.451,87</vt:lpstr>
      <vt:lpstr>Variação 2020 a 2025</vt:lpstr>
      <vt:lpstr>Divisão por indicação – TOTAL RECEBIDO PELO ESCRITÓRIO E PARCEIROS</vt:lpstr>
      <vt:lpstr>Maiores honorários Lucas</vt:lpstr>
      <vt:lpstr>Maiores honorários gustavo</vt:lpstr>
      <vt:lpstr>Distribuição por área de atuação</vt:lpstr>
      <vt:lpstr>Divisão honorários</vt:lpstr>
      <vt:lpstr>Divisão honorários – 2024 </vt:lpstr>
      <vt:lpstr>Modelo de previsão – chat gpt feito em 2024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</dc:creator>
  <cp:lastModifiedBy>Lucas Santana</cp:lastModifiedBy>
  <cp:revision>24</cp:revision>
  <dcterms:created xsi:type="dcterms:W3CDTF">2022-01-04T14:31:38Z</dcterms:created>
  <dcterms:modified xsi:type="dcterms:W3CDTF">2025-12-19T22:00:22Z</dcterms:modified>
</cp:coreProperties>
</file>